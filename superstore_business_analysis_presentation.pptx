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145454</c:v>
                </c:pt>
                <c:pt idx="1">
                  <c:v>122491</c:v>
                </c:pt>
                <c:pt idx="2">
                  <c:v>18451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108418</c:v>
                </c:pt>
                <c:pt idx="1">
                  <c:v>91523</c:v>
                </c:pt>
                <c:pt idx="2">
                  <c:v>39706</c:v>
                </c:pt>
                <c:pt idx="3">
                  <c:v>46749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28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228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upGrad Hackathon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10058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</a:rPr>
              <a:t>LEVEL 2 — DECISION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 — A Business Intelligence Solution for Leadership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200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27248"/>
            <a:ext cx="822960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821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</a:rPr>
              <a:t>CENTRAL BUSINESS QUESTION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3429000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products, regions, and categories are driving profitability — and where is the business losing money despite strong sales?"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Dataset: Superstore Sales (Kaggle)  |  Tool: Power BI  |  Level: L2 – Decision Intelligence  |  Submission: 7th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Judges evaluate whether you truly understand the dataset — not just its column names.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74980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</a:rPr>
              <a:t>WHAT DOES ONE ROW REPRESENT?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"Each row represents one individual product line item within a customer order — capturing when it was ordered, who bought it, what category it belongs to, and the financial outcome (Sales, Profit, Discount) for that specific item."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E3A5F"/>
                </a:solidFill>
              </a:rPr>
              <a:t>KEY COLUMNS — EXPLAINED IN BUSINESS TERMS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22576"/>
            <a:ext cx="2816352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2322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596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Order 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163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When the transaction occurred. Enables time-series and seasonality analysis.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2322576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2322576"/>
            <a:ext cx="281635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300984" y="2322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9272" y="2596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Category / Sub-Category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28163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Product grouping. Core lens for profitability analysis by product type.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35624" y="2322576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2322576"/>
            <a:ext cx="281635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208776" y="2322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27064" y="2596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Region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28163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Geographic zone (West/East/Central/South). Enables geographic performance comparison.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374136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74136"/>
            <a:ext cx="28163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NUMERIC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364845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Sales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Revenue generated per line item. Top-line metric — does NOT indicate profitability.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27832" y="3374136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27832" y="3374136"/>
            <a:ext cx="28163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300984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NUMERIC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9272" y="364845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Profit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9272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Net profit after discount and cost. The true measure of business health.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35624" y="3374136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35624" y="3374136"/>
            <a:ext cx="28163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208776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NUMERIC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27064" y="364845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Discount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27064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Discount applied to each order. Key variable to test impact on profit margins.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462272"/>
            <a:ext cx="850392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4805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</a:rPr>
              <a:t>WHAT THIS DATASET CANNOT ANSWER: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Customer loyalty / lifetime value  |  Operational costs (rent, logistics, salaries)  |  Competitor pricing  |  Reason for returns or cancellations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KPIs &amp; DECISION RATIONALE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5 KPIs chosen to answer one question: 'Where are we profitable — and where are we not?'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6642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2435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4630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828800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WHY CHOSEN: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336" y="199339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top-line metric. Tells us revenue scale but does NOT reveal health.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2505456"/>
            <a:ext cx="2395728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25054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→  Baseline: Are we growing?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90672" y="118872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90672" y="1188720"/>
            <a:ext cx="73152" cy="16642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12435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8688" y="14630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&amp; Margin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18688" y="1828800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97316"/>
                </a:solidFill>
              </a:rPr>
              <a:t>WHY CHOSEN: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18688" y="199339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Profit shows if sales actually benefit us. Margin% normalises across segments.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2505456"/>
            <a:ext cx="2395728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218688" y="25054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→  Key: Are we profitable enough?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07024" y="118872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07024" y="1188720"/>
            <a:ext cx="73152" cy="16642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2435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14630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Profit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1828800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</a:rPr>
              <a:t>WHY CHOSEN: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35040" y="199339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Identifies which product lines to invest in vs. which are silently costly.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2505456"/>
            <a:ext cx="2395728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5054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→  Prioritise: Where to focus?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01752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3017520"/>
            <a:ext cx="73152" cy="16642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2" name="Text 30"/>
          <p:cNvSpPr/>
          <p:nvPr/>
        </p:nvSpPr>
        <p:spPr>
          <a:xfrm>
            <a:off x="2139696" y="30723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39696" y="32918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39696" y="3657600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369A1"/>
                </a:solidFill>
              </a:rPr>
              <a:t>WHY CHOSEN: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39696" y="382219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Uncovers geographic strength vs. weakness for resource allocation decisions.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39696" y="4334256"/>
            <a:ext cx="2395728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2139696" y="43342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→  Allocate: Where to spend budget?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8032" y="301752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3017520"/>
            <a:ext cx="73152" cy="16642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956048" y="30723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56048" y="32918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vs. Profit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56048" y="3657600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4444"/>
                </a:solidFill>
              </a:rPr>
              <a:t>WHY CHOSEN: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56048" y="3822192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Tests whether our discounting strategy is boosting volume at the cost of profit.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56048" y="4334256"/>
            <a:ext cx="2395728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43342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→  Fix: Is pricing hurting us?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0974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97316"/>
                </a:solidFill>
              </a:rPr>
              <a:t>⚠  Rule: More than 7 KPIs = weak submission. Quality of reasoning over quantity of metrics.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116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22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TOTAL SALES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8328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" y="137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▲ +8.5%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777240"/>
            <a:ext cx="20116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822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TOTAL PROFIT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146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37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▲ +4.2% YoY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777240"/>
            <a:ext cx="20116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822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PROFIT MARGIN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90872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90872" y="137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▼ −1.1pp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777240"/>
            <a:ext cx="201168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822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TOTAL ORDERS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67144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37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▲ +11% YoY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755648"/>
            <a:ext cx="4160520" cy="2633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801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Profit by Category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2029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</a:rPr>
              <a:t>→ Technology = 50% of all profit despite equal sales share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2231136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1755648"/>
            <a:ext cx="4251960" cy="2633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3168" y="1801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Sales vs Profit by Region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73168" y="2029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→ Central: high sales, lowest margin — a structural problem</a:t>
            </a:r>
            <a:endParaRPr lang="en-US" sz="85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4709160" y="2231136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/>
          <p:nvPr/>
        </p:nvSpPr>
        <p:spPr>
          <a:xfrm>
            <a:off x="32004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Each visual above is evidence for a decision — not decoration. See Slide 5 for what these charts tell us.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WHAT &amp; WHY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Strong submissions explain WHY patterns exist, not just WHAT the chart shows. (Evaluation Guide — Section 3)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POSITIVE SIGNAL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drives 50% of total profit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77393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WHY: Technology products typically have higher manufacturer margins and lower logistics complexity than furniture. Customers in this category are also less discount-sensitive, preserving margin per order.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4023360" cy="34747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5059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</a:rPr>
              <a:t>Assumption: This holds assuming cost structure is proportional — we do not have direct cost data to confirm.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17043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70432"/>
            <a:ext cx="420624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CRITICAL ALERT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sales are high but profit is nearly zero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77393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WHY: Furniture likely has high last-mile delivery costs and is heavily discounted to compete. Our data shows Furniture orders average 30%+ discount — directly eroding margin. Tables and Bookcases often show negative profit.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450592"/>
            <a:ext cx="4023360" cy="34747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5059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</a:rPr>
              <a:t>Assumption: High discount is the primary driver — supply chain inefficiency is also possible but unconfirmed.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4495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44952"/>
            <a:ext cx="4206240" cy="2743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GEOGRAPHIC FINDING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355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has lowest profit-to-sales ratio (7.9%)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WHY: Central region likely has a different customer mix — more Furniture and discounted Office Supplies orders. This is a structural issue, not just a sales volume problem. Fixing this requires category-level action, not simply more marketing spend.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325112"/>
            <a:ext cx="4023360" cy="34747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32511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</a:rPr>
              <a:t>Assumption: We infer this from category mix patterns — regional cost data would confirm.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04495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044952"/>
            <a:ext cx="42062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PRICING RISK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355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consistently produce negative profit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364845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WHY: At high discount levels, the revenue reduction exceeds whatever volume gain is achieved. This is particularly damaging in low-margin categories like Furniture where there is no margin buffer. This is not a coincidence — it is a pricing policy failure.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4325112"/>
            <a:ext cx="4023360" cy="34747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32511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</a:rPr>
              <a:t>Assumption: Correlation observed in the data. We cannot rule out that both discount and low profit are caused by a third factor (e.g. clearance of damaged stock).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Each recommendation is directly linked to an observed insight. Trade-offs and risks are stated.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82296" cy="1783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216152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Furniture Discounts at 15% — Immediately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3619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LINKED TO: Insight — Discounts above 20% produce negative profit in Furniture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17373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ACTION: Set a pricing policy cap of 15% on all Furniture sub-categories. At current order volume, this is estimated to recover $35K–$50K in annual profit with minimal impact on order count, since Furniture demand is less price-elastic at the margin.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34440" y="2724912"/>
            <a:ext cx="740664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724912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TRADE-OFF: Short-term order volume may dip slightly. However, unprofitable orders are worse than fewer orders.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035808"/>
            <a:ext cx="8503920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35808"/>
            <a:ext cx="82296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0723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081528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Central Region's Structural Profit Problem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0156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LINKED TO: Insight — Central region has highest sales volume but lowest profit margin (7.9%)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ACTION: Conduct a category-mix review for Central region. If Furniture orders represent a disproportionate share, shifting 15–20% of Central marketing budget to Technology and Office Supplies campaigns is projected to add $20K–$30K in incremental profit within 2 quarters.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34440" y="4590288"/>
            <a:ext cx="7406640" cy="182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59028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TRADE-OFF: Reallocating budget may reduce Furniture volume in Central. Requires coordination with regional sales teams.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The evaluation guide rewards analytical honesty. We document every assumption and limitation transparently.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52144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52144"/>
            <a:ext cx="402336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52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KEY ASSUMPTIONS MADE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Dataset represents a real retail company; insights may not generalise to different markets.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76272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Discount values are applied uniformly per item — no tiered or bundled discount structures assumed.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743200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Profit figures reflect gross margin only; rent, staff, and logistics costs are NOT included.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3310128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Seasonality spike in Q4 is inferred from order date trends — not confirmed via external data.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3877056"/>
            <a:ext cx="3767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High discount → low profit relationship is causal — correlation is confirmed in the data, causality is assumed.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52144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52144"/>
            <a:ext cx="4069080" cy="347472"/>
          </a:xfrm>
          <a:prstGeom prst="rect">
            <a:avLst/>
          </a:prstGeom>
          <a:solidFill>
            <a:srgbClr val="7C1D2D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15214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DATA LIMITATIONS &amp; RISKS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1609344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 customer-level data — cannot assess loyalty, LTV, or repeat purchase behavior.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2176272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Risk of misinterpretation: High discount and negative profit may share a third cause (e.g. clearance sales).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743200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Profit margin calculations may understate actual profitability loss due to missing operational costs.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3310128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Time range of dataset may not reflect recent pricing changes or market conditions.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3877056"/>
            <a:ext cx="3822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Category-level recommendations must be validated with actual inventory and supply chain data before action.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7316"/>
                </a:solidFill>
              </a:rPr>
              <a:t>"Think clearly. Speak honestly. Recommend responsibly."  — upGrad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Management Dashboard – upGrad Hackathon 2026 – L2</dc:title>
  <dc:subject>PptxGenJS Presentation</dc:subject>
  <dc:creator>PptxGenJS</dc:creator>
  <cp:lastModifiedBy>PptxGenJS</cp:lastModifiedBy>
  <cp:revision>1</cp:revision>
  <dcterms:created xsi:type="dcterms:W3CDTF">2026-03-02T19:22:07Z</dcterms:created>
  <dcterms:modified xsi:type="dcterms:W3CDTF">2026-03-02T19:22:07Z</dcterms:modified>
</cp:coreProperties>
</file>